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
  </p:notesMasterIdLst>
  <p:sldIdLst>
    <p:sldId id="257" r:id="rId2"/>
    <p:sldId id="256" r:id="rId3"/>
  </p:sldIdLst>
  <p:sldSz cx="7772400" cy="10058400"/>
  <p:notesSz cx="6950075"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9" userDrawn="1">
          <p15:clr>
            <a:srgbClr val="A4A3A4"/>
          </p15:clr>
        </p15:guide>
        <p15:guide id="2" pos="2448" userDrawn="1">
          <p15:clr>
            <a:srgbClr val="A4A3A4"/>
          </p15:clr>
        </p15:guide>
        <p15:guide id="3" pos="1176" userDrawn="1">
          <p15:clr>
            <a:srgbClr val="A4A3A4"/>
          </p15:clr>
        </p15:guide>
        <p15:guide id="4" pos="4464" userDrawn="1">
          <p15:clr>
            <a:srgbClr val="A4A3A4"/>
          </p15:clr>
        </p15:guide>
        <p15:guide id="5" pos="432" userDrawn="1">
          <p15:clr>
            <a:srgbClr val="A4A3A4"/>
          </p15:clr>
        </p15:guide>
        <p15:guide id="7" orient="horz" pos="5928" userDrawn="1">
          <p15:clr>
            <a:srgbClr val="A4A3A4"/>
          </p15:clr>
        </p15:guide>
        <p15:guide id="8" pos="2256" userDrawn="1">
          <p15:clr>
            <a:srgbClr val="A4A3A4"/>
          </p15:clr>
        </p15:guide>
        <p15:guide id="9" orient="horz" pos="5544" userDrawn="1">
          <p15:clr>
            <a:srgbClr val="A4A3A4"/>
          </p15:clr>
        </p15:guide>
        <p15:guide id="10" orient="horz" pos="5376" userDrawn="1">
          <p15:clr>
            <a:srgbClr val="A4A3A4"/>
          </p15:clr>
        </p15:guide>
        <p15:guide id="11" pos="624" userDrawn="1">
          <p15:clr>
            <a:srgbClr val="A4A3A4"/>
          </p15:clr>
        </p15:guide>
        <p15:guide id="12" orient="horz" pos="57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0028"/>
    <a:srgbClr val="B80028"/>
    <a:srgbClr val="0582CA"/>
    <a:srgbClr val="00466C"/>
    <a:srgbClr val="4361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E84FB4-35B2-4288-B272-031A76889DCA}" v="1" dt="2025-12-03T22:25:03.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56"/>
    <p:restoredTop sz="96322"/>
  </p:normalViewPr>
  <p:slideViewPr>
    <p:cSldViewPr snapToGrid="0" showGuides="1">
      <p:cViewPr varScale="1">
        <p:scale>
          <a:sx n="73" d="100"/>
          <a:sy n="73" d="100"/>
        </p:scale>
        <p:origin x="3132" y="78"/>
      </p:cViewPr>
      <p:guideLst>
        <p:guide orient="horz" pos="419"/>
        <p:guide pos="2448"/>
        <p:guide pos="1176"/>
        <p:guide pos="4464"/>
        <p:guide pos="432"/>
        <p:guide orient="horz" pos="5928"/>
        <p:guide pos="2256"/>
        <p:guide orient="horz" pos="5544"/>
        <p:guide orient="horz" pos="5376"/>
        <p:guide pos="624"/>
        <p:guide orient="horz" pos="5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76D02AF9-74AA-D54E-8C8E-274F943F6452}" type="datetimeFigureOut">
              <a:rPr lang="en-US" smtClean="0"/>
              <a:t>4/20/2026</a:t>
            </a:fld>
            <a:endParaRPr lang="en-US"/>
          </a:p>
        </p:txBody>
      </p:sp>
      <p:sp>
        <p:nvSpPr>
          <p:cNvPr id="4" name="Slide Image Placeholder 3"/>
          <p:cNvSpPr>
            <a:spLocks noGrp="1" noRot="1" noChangeAspect="1"/>
          </p:cNvSpPr>
          <p:nvPr>
            <p:ph type="sldImg" idx="2"/>
          </p:nvPr>
        </p:nvSpPr>
        <p:spPr>
          <a:xfrm>
            <a:off x="2270125" y="1154113"/>
            <a:ext cx="2409825" cy="3117850"/>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12888BA7-F1D8-AE44-93CE-83EEDC295833}" type="slidenum">
              <a:rPr lang="en-US" smtClean="0"/>
              <a:t>‹#›</a:t>
            </a:fld>
            <a:endParaRPr lang="en-US"/>
          </a:p>
        </p:txBody>
      </p:sp>
    </p:spTree>
    <p:extLst>
      <p:ext uri="{BB962C8B-B14F-4D97-AF65-F5344CB8AC3E}">
        <p14:creationId xmlns:p14="http://schemas.microsoft.com/office/powerpoint/2010/main" val="1745706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888BA7-F1D8-AE44-93CE-83EEDC295833}" type="slidenum">
              <a:rPr lang="en-US" smtClean="0"/>
              <a:t>1</a:t>
            </a:fld>
            <a:endParaRPr lang="en-US"/>
          </a:p>
        </p:txBody>
      </p:sp>
    </p:spTree>
    <p:extLst>
      <p:ext uri="{BB962C8B-B14F-4D97-AF65-F5344CB8AC3E}">
        <p14:creationId xmlns:p14="http://schemas.microsoft.com/office/powerpoint/2010/main" val="592149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888BA7-F1D8-AE44-93CE-83EEDC295833}" type="slidenum">
              <a:rPr lang="en-US" smtClean="0"/>
              <a:t>2</a:t>
            </a:fld>
            <a:endParaRPr lang="en-US"/>
          </a:p>
        </p:txBody>
      </p:sp>
    </p:spTree>
    <p:extLst>
      <p:ext uri="{BB962C8B-B14F-4D97-AF65-F5344CB8AC3E}">
        <p14:creationId xmlns:p14="http://schemas.microsoft.com/office/powerpoint/2010/main" val="1137932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9F8A3B-88BD-284E-9CC9-7BB270078508}"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2001038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9F8A3B-88BD-284E-9CC9-7BB270078508}"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1055630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9F8A3B-88BD-284E-9CC9-7BB270078508}"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774768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9F8A3B-88BD-284E-9CC9-7BB270078508}"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827521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9F8A3B-88BD-284E-9CC9-7BB270078508}"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9192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9F8A3B-88BD-284E-9CC9-7BB270078508}"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252945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9F8A3B-88BD-284E-9CC9-7BB270078508}"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3185199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359F8A3B-88BD-284E-9CC9-7BB270078508}"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129442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359F8A3B-88BD-284E-9CC9-7BB270078508}"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3242223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9F8A3B-88BD-284E-9CC9-7BB270078508}"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2777458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9F8A3B-88BD-284E-9CC9-7BB270078508}"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F0AA1B-352E-8349-BB09-BE1AEB076296}" type="slidenum">
              <a:rPr lang="en-US" smtClean="0"/>
              <a:t>‹#›</a:t>
            </a:fld>
            <a:endParaRPr lang="en-US"/>
          </a:p>
        </p:txBody>
      </p:sp>
    </p:spTree>
    <p:extLst>
      <p:ext uri="{BB962C8B-B14F-4D97-AF65-F5344CB8AC3E}">
        <p14:creationId xmlns:p14="http://schemas.microsoft.com/office/powerpoint/2010/main" val="2383156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359F8A3B-88BD-284E-9CC9-7BB270078508}" type="datetimeFigureOut">
              <a:rPr lang="en-US" smtClean="0"/>
              <a:t>4/20/2026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2BF0AA1B-352E-8349-BB09-BE1AEB076296}" type="slidenum">
              <a:rPr lang="en-US" smtClean="0"/>
              <a:t>‹#›</a:t>
            </a:fld>
            <a:endParaRPr lang="en-US"/>
          </a:p>
        </p:txBody>
      </p:sp>
    </p:spTree>
    <p:extLst>
      <p:ext uri="{BB962C8B-B14F-4D97-AF65-F5344CB8AC3E}">
        <p14:creationId xmlns:p14="http://schemas.microsoft.com/office/powerpoint/2010/main" val="629888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tn.gov/content/tn/humanservices/for-families/families-first-tanf.html" TargetMode="External"/><Relationship Id="rId3" Type="http://schemas.openxmlformats.org/officeDocument/2006/relationships/image" Target="../media/image1.png"/><Relationship Id="rId7" Type="http://schemas.openxmlformats.org/officeDocument/2006/relationships/hyperlink" Target="https://www.tn.gov/content/tn/workforce/jobs-and-education/services-by-group/services-by-group-redirect/resea.html" TargetMode="External"/><Relationship Id="rId12"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tn.gov/content/tn/workforce/jobs-and-education/ae.html" TargetMode="External"/><Relationship Id="rId11" Type="http://schemas.openxmlformats.org/officeDocument/2006/relationships/hyperlink" Target="https://www.tn.gov/content/tn/humanservices/disability-services.html" TargetMode="External"/><Relationship Id="rId5" Type="http://schemas.openxmlformats.org/officeDocument/2006/relationships/hyperlink" Target="https://www.tn.gov/content/tn/workforce/jobs-and-education/services-by-group/services-by-group-redirect/senior-work-experience-program.html" TargetMode="External"/><Relationship Id="rId10" Type="http://schemas.openxmlformats.org/officeDocument/2006/relationships/hyperlink" Target="https://www.tn.gov/content/tn/workforce/jobs-and-education/services-by-group/services-by-group-redirect/trade.html" TargetMode="External"/><Relationship Id="rId4" Type="http://schemas.openxmlformats.org/officeDocument/2006/relationships/hyperlink" Target="https://www.tn.gov/content/tn/workforce/jobs-and-education/services-by-group/services-by-group-redirect/youth-services.html" TargetMode="External"/><Relationship Id="rId9" Type="http://schemas.openxmlformats.org/officeDocument/2006/relationships/hyperlink" Target="https://www.tn.gov/content/tn/workforce/jobs-and-education/services-by-group/services-by-group-redirect/snapet.html"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www.vetcenter.va.gov/" TargetMode="External"/><Relationship Id="rId13" Type="http://schemas.openxmlformats.org/officeDocument/2006/relationships/hyperlink" Target="https://www.tn.gov/workforce/jobs-and-education/services-by-group/services-by-group-redirect/job-placement-for-veterans.html" TargetMode="External"/><Relationship Id="rId3" Type="http://schemas.openxmlformats.org/officeDocument/2006/relationships/image" Target="../media/image3.png"/><Relationship Id="rId7" Type="http://schemas.openxmlformats.org/officeDocument/2006/relationships/hyperlink" Target="https://www.benefits.va.gov/vocrehab/" TargetMode="External"/><Relationship Id="rId12" Type="http://schemas.openxmlformats.org/officeDocument/2006/relationships/hyperlink" Target="https://www.tn.gov/"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militaryonesource.mil/all-the-ways/?gclid=EAIaIQobChMIq6ys6beL6gIVDbLICh1r5wqCEAAYASAAEgJ5AfD_BwE" TargetMode="External"/><Relationship Id="rId11" Type="http://schemas.openxmlformats.org/officeDocument/2006/relationships/image" Target="../media/image4.png"/><Relationship Id="rId5" Type="http://schemas.openxmlformats.org/officeDocument/2006/relationships/hyperlink" Target="https://www.uschamberfoundation.org/hiring-our-heroes" TargetMode="External"/><Relationship Id="rId10" Type="http://schemas.openxmlformats.org/officeDocument/2006/relationships/hyperlink" Target="https://sba.my.site.com/s/" TargetMode="External"/><Relationship Id="rId4" Type="http://schemas.openxmlformats.org/officeDocument/2006/relationships/hyperlink" Target="https://www.careeronestop.org/LocalHelp/AmericanJobCenters/find-american-job-centers.aspx" TargetMode="External"/><Relationship Id="rId9" Type="http://schemas.openxmlformats.org/officeDocument/2006/relationships/hyperlink" Target="https://www.apprenticeship.gov/career-seekers/service-members-and-vetera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68EA4AD-E3D7-0CFD-9D80-AC9314781A91}"/>
              </a:ext>
            </a:extLst>
          </p:cNvPr>
          <p:cNvPicPr>
            <a:picLocks noChangeAspect="1"/>
          </p:cNvPicPr>
          <p:nvPr/>
        </p:nvPicPr>
        <p:blipFill rotWithShape="1">
          <a:blip r:embed="rId3">
            <a:alphaModFix/>
          </a:blip>
          <a:srcRect l="24358" t="3540" r="3515" b="4288"/>
          <a:stretch/>
        </p:blipFill>
        <p:spPr>
          <a:xfrm flipH="1">
            <a:off x="743225" y="1684944"/>
            <a:ext cx="6400799" cy="2232467"/>
          </a:xfrm>
          <a:prstGeom prst="rect">
            <a:avLst/>
          </a:prstGeom>
        </p:spPr>
      </p:pic>
      <p:sp>
        <p:nvSpPr>
          <p:cNvPr id="2" name="Title 1">
            <a:extLst>
              <a:ext uri="{FF2B5EF4-FFF2-40B4-BE49-F238E27FC236}">
                <a16:creationId xmlns:a16="http://schemas.microsoft.com/office/drawing/2014/main" id="{375D00E1-36E0-4E22-DB06-40DA39B20D62}"/>
              </a:ext>
            </a:extLst>
          </p:cNvPr>
          <p:cNvSpPr>
            <a:spLocks noGrp="1"/>
          </p:cNvSpPr>
          <p:nvPr>
            <p:ph type="ctrTitle"/>
          </p:nvPr>
        </p:nvSpPr>
        <p:spPr>
          <a:xfrm>
            <a:off x="582930" y="346330"/>
            <a:ext cx="4594712" cy="1306285"/>
          </a:xfrm>
        </p:spPr>
        <p:txBody>
          <a:bodyPr>
            <a:noAutofit/>
          </a:bodyPr>
          <a:lstStyle/>
          <a:p>
            <a:pPr algn="l">
              <a:lnSpc>
                <a:spcPct val="70000"/>
              </a:lnSpc>
            </a:pPr>
            <a:r>
              <a:rPr lang="en-US" sz="4000" dirty="0">
                <a:latin typeface="Poppins" pitchFamily="2" charset="77"/>
                <a:cs typeface="Poppins" pitchFamily="2" charset="77"/>
              </a:rPr>
              <a:t>LOOKING FOR THE RIGHT CAREER?</a:t>
            </a:r>
          </a:p>
        </p:txBody>
      </p:sp>
      <p:sp>
        <p:nvSpPr>
          <p:cNvPr id="3" name="Subtitle 2">
            <a:extLst>
              <a:ext uri="{FF2B5EF4-FFF2-40B4-BE49-F238E27FC236}">
                <a16:creationId xmlns:a16="http://schemas.microsoft.com/office/drawing/2014/main" id="{A0C6E527-2746-65AA-2030-808C439CECF3}"/>
              </a:ext>
            </a:extLst>
          </p:cNvPr>
          <p:cNvSpPr>
            <a:spLocks noGrp="1"/>
          </p:cNvSpPr>
          <p:nvPr>
            <p:ph type="subTitle" idx="1"/>
          </p:nvPr>
        </p:nvSpPr>
        <p:spPr>
          <a:xfrm>
            <a:off x="951509" y="4686351"/>
            <a:ext cx="5981698" cy="2034499"/>
          </a:xfrm>
        </p:spPr>
        <p:txBody>
          <a:bodyPr lIns="0" tIns="0" rIns="0" bIns="0" numCol="2" spcCol="182880">
            <a:noAutofit/>
          </a:bodyPr>
          <a:lstStyle/>
          <a:p>
            <a:pPr marL="342900" indent="-225425" algn="l">
              <a:lnSpc>
                <a:spcPct val="100000"/>
              </a:lnSpc>
              <a:spcBef>
                <a:spcPts val="600"/>
              </a:spcBef>
              <a:buFont typeface="Arial" panose="020B0604020202020204" pitchFamily="34" charset="0"/>
              <a:buChar char="•"/>
            </a:pPr>
            <a:r>
              <a:rPr lang="en-US" sz="1600" dirty="0">
                <a:latin typeface="Poppins" pitchFamily="2" charset="77"/>
                <a:cs typeface="Poppins" pitchFamily="2" charset="77"/>
              </a:rPr>
              <a:t>Resume and Cover Letter Assistance</a:t>
            </a:r>
          </a:p>
          <a:p>
            <a:pPr marL="342900" indent="-225425" algn="l">
              <a:lnSpc>
                <a:spcPct val="100000"/>
              </a:lnSpc>
              <a:spcBef>
                <a:spcPts val="600"/>
              </a:spcBef>
              <a:buFont typeface="Arial" panose="020B0604020202020204" pitchFamily="34" charset="0"/>
              <a:buChar char="•"/>
            </a:pPr>
            <a:r>
              <a:rPr lang="en-US" sz="1600" dirty="0">
                <a:latin typeface="Poppins" pitchFamily="2" charset="77"/>
                <a:cs typeface="Poppins" pitchFamily="2" charset="77"/>
              </a:rPr>
              <a:t>Job Search Guidance</a:t>
            </a:r>
          </a:p>
          <a:p>
            <a:pPr marL="342900" indent="-225425" algn="l">
              <a:lnSpc>
                <a:spcPct val="100000"/>
              </a:lnSpc>
              <a:spcBef>
                <a:spcPts val="600"/>
              </a:spcBef>
              <a:buFont typeface="Arial" panose="020B0604020202020204" pitchFamily="34" charset="0"/>
              <a:buChar char="•"/>
            </a:pPr>
            <a:r>
              <a:rPr lang="en-US" sz="1600" dirty="0">
                <a:latin typeface="Poppins" pitchFamily="2" charset="77"/>
                <a:cs typeface="Poppins" pitchFamily="2" charset="77"/>
              </a:rPr>
              <a:t>Interview Preparation</a:t>
            </a:r>
          </a:p>
          <a:p>
            <a:pPr marL="342900" indent="-225425" algn="l">
              <a:lnSpc>
                <a:spcPct val="100000"/>
              </a:lnSpc>
              <a:spcBef>
                <a:spcPts val="600"/>
              </a:spcBef>
              <a:buFont typeface="Arial" panose="020B0604020202020204" pitchFamily="34" charset="0"/>
              <a:buChar char="•"/>
            </a:pPr>
            <a:r>
              <a:rPr lang="en-US" sz="1600" dirty="0">
                <a:latin typeface="Poppins" pitchFamily="2" charset="77"/>
                <a:cs typeface="Poppins" pitchFamily="2" charset="77"/>
              </a:rPr>
              <a:t>Career Coaching</a:t>
            </a:r>
          </a:p>
          <a:p>
            <a:pPr marL="342900" indent="-225425" algn="l">
              <a:lnSpc>
                <a:spcPct val="100000"/>
              </a:lnSpc>
              <a:spcBef>
                <a:spcPts val="600"/>
              </a:spcBef>
              <a:buFont typeface="Arial" panose="020B0604020202020204" pitchFamily="34" charset="0"/>
              <a:buChar char="•"/>
            </a:pPr>
            <a:endParaRPr lang="en-US" sz="1600" dirty="0">
              <a:latin typeface="Poppins" pitchFamily="2" charset="77"/>
              <a:cs typeface="Poppins" pitchFamily="2" charset="77"/>
            </a:endParaRPr>
          </a:p>
          <a:p>
            <a:pPr marL="342900" indent="-225425" algn="l">
              <a:lnSpc>
                <a:spcPct val="100000"/>
              </a:lnSpc>
              <a:spcBef>
                <a:spcPts val="600"/>
              </a:spcBef>
              <a:buFont typeface="Arial" panose="020B0604020202020204" pitchFamily="34" charset="0"/>
              <a:buChar char="•"/>
            </a:pPr>
            <a:r>
              <a:rPr lang="en-US" sz="1600" dirty="0">
                <a:latin typeface="Poppins" pitchFamily="2" charset="77"/>
                <a:cs typeface="Poppins" pitchFamily="2" charset="77"/>
              </a:rPr>
              <a:t>Resource Connections and Referrals</a:t>
            </a:r>
          </a:p>
          <a:p>
            <a:pPr marL="342900" indent="-225425" algn="l">
              <a:lnSpc>
                <a:spcPct val="100000"/>
              </a:lnSpc>
              <a:spcBef>
                <a:spcPts val="600"/>
              </a:spcBef>
              <a:buFont typeface="Arial" panose="020B0604020202020204" pitchFamily="34" charset="0"/>
              <a:buChar char="•"/>
            </a:pPr>
            <a:r>
              <a:rPr lang="en-US" sz="1600" dirty="0">
                <a:latin typeface="Poppins" pitchFamily="2" charset="77"/>
                <a:cs typeface="Poppins" pitchFamily="2" charset="77"/>
              </a:rPr>
              <a:t>Training and Education Opportunities</a:t>
            </a:r>
          </a:p>
          <a:p>
            <a:pPr marL="342900" indent="-225425" algn="l">
              <a:lnSpc>
                <a:spcPct val="100000"/>
              </a:lnSpc>
              <a:spcBef>
                <a:spcPts val="600"/>
              </a:spcBef>
              <a:buFont typeface="Arial" panose="020B0604020202020204" pitchFamily="34" charset="0"/>
              <a:buChar char="•"/>
            </a:pPr>
            <a:r>
              <a:rPr lang="en-US" sz="1600" dirty="0">
                <a:latin typeface="Poppins" pitchFamily="2" charset="77"/>
                <a:cs typeface="Poppins" pitchFamily="2" charset="77"/>
              </a:rPr>
              <a:t>And MORE…</a:t>
            </a:r>
          </a:p>
        </p:txBody>
      </p:sp>
      <p:sp>
        <p:nvSpPr>
          <p:cNvPr id="4" name="Title 1">
            <a:extLst>
              <a:ext uri="{FF2B5EF4-FFF2-40B4-BE49-F238E27FC236}">
                <a16:creationId xmlns:a16="http://schemas.microsoft.com/office/drawing/2014/main" id="{3799FCF1-9E5E-0E9F-7652-CD235989DBE1}"/>
              </a:ext>
            </a:extLst>
          </p:cNvPr>
          <p:cNvSpPr txBox="1">
            <a:spLocks/>
          </p:cNvSpPr>
          <p:nvPr/>
        </p:nvSpPr>
        <p:spPr>
          <a:xfrm>
            <a:off x="685800" y="1799616"/>
            <a:ext cx="4171208" cy="2117795"/>
          </a:xfrm>
          <a:prstGeom prst="rect">
            <a:avLst/>
          </a:prstGeom>
        </p:spPr>
        <p:txBody>
          <a:bodyPr vert="horz" lIns="0" tIns="0" rIns="0" bIns="0" rtlCol="0" anchor="t" anchorCtr="0">
            <a:noAutofit/>
          </a:bodyPr>
          <a:lstStyle>
            <a:lvl1pPr algn="ctr" defTabSz="777240" rtl="0" eaLnBrk="1" latinLnBrk="0" hangingPunct="1">
              <a:lnSpc>
                <a:spcPct val="90000"/>
              </a:lnSpc>
              <a:spcBef>
                <a:spcPct val="0"/>
              </a:spcBef>
              <a:buNone/>
              <a:defRPr sz="5100" kern="1200">
                <a:solidFill>
                  <a:schemeClr val="tx1"/>
                </a:solidFill>
                <a:latin typeface="+mj-lt"/>
                <a:ea typeface="+mj-ea"/>
                <a:cs typeface="+mj-cs"/>
              </a:defRPr>
            </a:lvl1pPr>
          </a:lstStyle>
          <a:p>
            <a:pPr algn="l">
              <a:lnSpc>
                <a:spcPct val="70000"/>
              </a:lnSpc>
            </a:pPr>
            <a:r>
              <a:rPr lang="en-US" sz="11500" b="1" dirty="0">
                <a:solidFill>
                  <a:schemeClr val="bg1"/>
                </a:solidFill>
                <a:latin typeface="Poppins" pitchFamily="2" charset="77"/>
                <a:cs typeface="Poppins" pitchFamily="2" charset="77"/>
              </a:rPr>
              <a:t>HIRE A VET</a:t>
            </a:r>
          </a:p>
        </p:txBody>
      </p:sp>
      <p:sp>
        <p:nvSpPr>
          <p:cNvPr id="9" name="TextBox 8">
            <a:extLst>
              <a:ext uri="{FF2B5EF4-FFF2-40B4-BE49-F238E27FC236}">
                <a16:creationId xmlns:a16="http://schemas.microsoft.com/office/drawing/2014/main" id="{510A3A48-6318-C2E8-7D70-E4F38A03DD94}"/>
              </a:ext>
            </a:extLst>
          </p:cNvPr>
          <p:cNvSpPr txBox="1"/>
          <p:nvPr/>
        </p:nvSpPr>
        <p:spPr>
          <a:xfrm>
            <a:off x="685799" y="3952748"/>
            <a:ext cx="6448876" cy="830997"/>
          </a:xfrm>
          <a:prstGeom prst="rect">
            <a:avLst/>
          </a:prstGeom>
          <a:noFill/>
        </p:spPr>
        <p:txBody>
          <a:bodyPr wrap="square" rtlCol="0">
            <a:spAutoFit/>
          </a:bodyPr>
          <a:lstStyle/>
          <a:p>
            <a:r>
              <a:rPr lang="en-US" sz="1600" b="1" dirty="0"/>
              <a:t>IF YOU SERVED IN THE MILITARY, ABOUT TO SEPARATE FROM THE MILITARY OR A SPOUSE OF A MILITARY MEMBER, YOU MAY BE ELIGIBLE FOR </a:t>
            </a:r>
          </a:p>
        </p:txBody>
      </p:sp>
      <p:sp>
        <p:nvSpPr>
          <p:cNvPr id="10" name="TextBox 9">
            <a:extLst>
              <a:ext uri="{FF2B5EF4-FFF2-40B4-BE49-F238E27FC236}">
                <a16:creationId xmlns:a16="http://schemas.microsoft.com/office/drawing/2014/main" id="{AEDF79DC-E2E3-3F11-6D5F-6D774E619470}"/>
              </a:ext>
            </a:extLst>
          </p:cNvPr>
          <p:cNvSpPr txBox="1"/>
          <p:nvPr/>
        </p:nvSpPr>
        <p:spPr>
          <a:xfrm>
            <a:off x="685799" y="6382011"/>
            <a:ext cx="6448876" cy="738664"/>
          </a:xfrm>
          <a:prstGeom prst="rect">
            <a:avLst/>
          </a:prstGeom>
          <a:noFill/>
        </p:spPr>
        <p:txBody>
          <a:bodyPr wrap="square" rtlCol="0">
            <a:spAutoFit/>
          </a:bodyPr>
          <a:lstStyle/>
          <a:p>
            <a:r>
              <a:rPr lang="en-US" sz="1400" b="0" i="0" dirty="0">
                <a:solidFill>
                  <a:srgbClr val="131E29"/>
                </a:solidFill>
                <a:effectLst/>
                <a:latin typeface="Open Sans" panose="020B0606030504020204" pitchFamily="34" charset="0"/>
              </a:rPr>
              <a:t>In addition to these services, the AJC offers access to programs in assisting job seekers reach their full potential and eventually become self-reliant. These programs include: </a:t>
            </a:r>
            <a:endParaRPr lang="en-US" sz="1400" dirty="0"/>
          </a:p>
        </p:txBody>
      </p:sp>
      <p:sp>
        <p:nvSpPr>
          <p:cNvPr id="11" name="Text Box 12">
            <a:extLst>
              <a:ext uri="{FF2B5EF4-FFF2-40B4-BE49-F238E27FC236}">
                <a16:creationId xmlns:a16="http://schemas.microsoft.com/office/drawing/2014/main" id="{9921AC1A-217E-7032-5075-CC2EE096847F}"/>
              </a:ext>
            </a:extLst>
          </p:cNvPr>
          <p:cNvSpPr txBox="1">
            <a:spLocks noChangeArrowheads="1"/>
          </p:cNvSpPr>
          <p:nvPr/>
        </p:nvSpPr>
        <p:spPr bwMode="auto">
          <a:xfrm>
            <a:off x="685803" y="7524931"/>
            <a:ext cx="3144240" cy="2336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r>
              <a:rPr lang="en-US" sz="1400" b="1" u="sng" dirty="0">
                <a:solidFill>
                  <a:srgbClr val="C00000"/>
                </a:solidFill>
                <a:hlinkClick r:id="rId4" tooltip="Youth">
                  <a:extLst>
                    <a:ext uri="{A12FA001-AC4F-418D-AE19-62706E023703}">
                      <ahyp:hlinkClr xmlns:ahyp="http://schemas.microsoft.com/office/drawing/2018/hyperlinkcolor" val="tx"/>
                    </a:ext>
                  </a:extLst>
                </a:hlinkClick>
              </a:rPr>
              <a:t>Youth</a:t>
            </a:r>
            <a:endParaRPr lang="en-US" sz="1400" b="1" u="sng" dirty="0">
              <a:solidFill>
                <a:srgbClr val="C00000"/>
              </a:solidFill>
            </a:endParaRPr>
          </a:p>
          <a:p>
            <a:endParaRPr lang="en-US" sz="1400" b="1" dirty="0">
              <a:solidFill>
                <a:srgbClr val="C00000"/>
              </a:solidFill>
            </a:endParaRPr>
          </a:p>
          <a:p>
            <a:r>
              <a:rPr lang="en-US" sz="1400" b="1" u="sng" dirty="0">
                <a:solidFill>
                  <a:srgbClr val="C00000"/>
                </a:solidFill>
                <a:hlinkClick r:id="rId5" tooltip="Senior Work Experience Program">
                  <a:extLst>
                    <a:ext uri="{A12FA001-AC4F-418D-AE19-62706E023703}">
                      <ahyp:hlinkClr xmlns:ahyp="http://schemas.microsoft.com/office/drawing/2018/hyperlinkcolor" val="tx"/>
                    </a:ext>
                  </a:extLst>
                </a:hlinkClick>
              </a:rPr>
              <a:t>Senior Work Experience Program</a:t>
            </a:r>
            <a:endParaRPr lang="en-US" sz="1400" b="1" u="sng" dirty="0">
              <a:solidFill>
                <a:srgbClr val="C00000"/>
              </a:solidFill>
            </a:endParaRPr>
          </a:p>
          <a:p>
            <a:endParaRPr lang="en-US" sz="1400" b="1" dirty="0">
              <a:solidFill>
                <a:srgbClr val="C00000"/>
              </a:solidFill>
            </a:endParaRPr>
          </a:p>
          <a:p>
            <a:r>
              <a:rPr lang="en-US" sz="1400" b="1" u="sng" dirty="0">
                <a:solidFill>
                  <a:srgbClr val="C00000"/>
                </a:solidFill>
                <a:hlinkClick r:id="rId6" tooltip="Adult Education">
                  <a:extLst>
                    <a:ext uri="{A12FA001-AC4F-418D-AE19-62706E023703}">
                      <ahyp:hlinkClr xmlns:ahyp="http://schemas.microsoft.com/office/drawing/2018/hyperlinkcolor" val="tx"/>
                    </a:ext>
                  </a:extLst>
                </a:hlinkClick>
              </a:rPr>
              <a:t>Adult Education</a:t>
            </a:r>
            <a:endParaRPr lang="en-US" sz="1400" b="1" u="sng" dirty="0">
              <a:solidFill>
                <a:srgbClr val="C00000"/>
              </a:solidFill>
            </a:endParaRPr>
          </a:p>
          <a:p>
            <a:endParaRPr lang="en-US" sz="1400" b="1" dirty="0">
              <a:solidFill>
                <a:srgbClr val="C00000"/>
              </a:solidFill>
            </a:endParaRPr>
          </a:p>
          <a:p>
            <a:r>
              <a:rPr lang="en-US" sz="1400" b="1" u="sng" dirty="0">
                <a:solidFill>
                  <a:srgbClr val="C00000"/>
                </a:solidFill>
                <a:hlinkClick r:id="rId7" tooltip="Re-Employment Services and Eligibility (RESEA)">
                  <a:extLst>
                    <a:ext uri="{A12FA001-AC4F-418D-AE19-62706E023703}">
                      <ahyp:hlinkClr xmlns:ahyp="http://schemas.microsoft.com/office/drawing/2018/hyperlinkcolor" val="tx"/>
                    </a:ext>
                  </a:extLst>
                </a:hlinkClick>
              </a:rPr>
              <a:t>Re-Employment Services and Eligibility (RESEA)</a:t>
            </a:r>
            <a:endParaRPr lang="en-US" sz="1400" b="1" dirty="0">
              <a:solidFill>
                <a:srgbClr val="C00000"/>
              </a:solidFill>
            </a:endParaRPr>
          </a:p>
        </p:txBody>
      </p:sp>
      <p:sp>
        <p:nvSpPr>
          <p:cNvPr id="18" name="Text Box 12">
            <a:extLst>
              <a:ext uri="{FF2B5EF4-FFF2-40B4-BE49-F238E27FC236}">
                <a16:creationId xmlns:a16="http://schemas.microsoft.com/office/drawing/2014/main" id="{34419C8D-EBD9-5BDE-10C2-C1C8E670D25E}"/>
              </a:ext>
            </a:extLst>
          </p:cNvPr>
          <p:cNvSpPr txBox="1">
            <a:spLocks noChangeArrowheads="1"/>
          </p:cNvSpPr>
          <p:nvPr/>
        </p:nvSpPr>
        <p:spPr bwMode="auto">
          <a:xfrm>
            <a:off x="3942358" y="7529363"/>
            <a:ext cx="3144240" cy="2182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r>
              <a:rPr lang="en-US" sz="1400" b="1" u="sng" dirty="0">
                <a:solidFill>
                  <a:srgbClr val="C00000"/>
                </a:solidFill>
                <a:hlinkClick r:id="rId8" tooltip="Temporary Assistance for Needy Families (TANF)">
                  <a:extLst>
                    <a:ext uri="{A12FA001-AC4F-418D-AE19-62706E023703}">
                      <ahyp:hlinkClr xmlns:ahyp="http://schemas.microsoft.com/office/drawing/2018/hyperlinkcolor" val="tx"/>
                    </a:ext>
                  </a:extLst>
                </a:hlinkClick>
              </a:rPr>
              <a:t>Temporary Assistance for Needy Families (TANF)</a:t>
            </a:r>
            <a:endParaRPr lang="en-US" sz="1400" b="1" u="sng" dirty="0">
              <a:solidFill>
                <a:srgbClr val="C00000"/>
              </a:solidFill>
            </a:endParaRPr>
          </a:p>
          <a:p>
            <a:endParaRPr lang="en-US" sz="1400" b="1" dirty="0">
              <a:solidFill>
                <a:srgbClr val="C00000"/>
              </a:solidFill>
            </a:endParaRPr>
          </a:p>
          <a:p>
            <a:r>
              <a:rPr lang="en-US" sz="1400" b="1" u="sng" dirty="0">
                <a:solidFill>
                  <a:srgbClr val="C00000"/>
                </a:solidFill>
                <a:hlinkClick r:id="rId9" tooltip="SNAP Employment &amp; Training">
                  <a:extLst>
                    <a:ext uri="{A12FA001-AC4F-418D-AE19-62706E023703}">
                      <ahyp:hlinkClr xmlns:ahyp="http://schemas.microsoft.com/office/drawing/2018/hyperlinkcolor" val="tx"/>
                    </a:ext>
                  </a:extLst>
                </a:hlinkClick>
              </a:rPr>
              <a:t>SNAP Employment &amp; Training</a:t>
            </a:r>
            <a:endParaRPr lang="en-US" sz="1400" b="1" u="sng" dirty="0">
              <a:solidFill>
                <a:srgbClr val="C00000"/>
              </a:solidFill>
            </a:endParaRPr>
          </a:p>
          <a:p>
            <a:endParaRPr lang="en-US" sz="1400" b="1" dirty="0">
              <a:solidFill>
                <a:srgbClr val="C00000"/>
              </a:solidFill>
            </a:endParaRPr>
          </a:p>
          <a:p>
            <a:r>
              <a:rPr lang="en-US" sz="1400" b="1" u="sng" dirty="0">
                <a:solidFill>
                  <a:srgbClr val="C00000"/>
                </a:solidFill>
                <a:hlinkClick r:id="rId10" tooltip="Trade Adjustment Assistance (TAA)">
                  <a:extLst>
                    <a:ext uri="{A12FA001-AC4F-418D-AE19-62706E023703}">
                      <ahyp:hlinkClr xmlns:ahyp="http://schemas.microsoft.com/office/drawing/2018/hyperlinkcolor" val="tx"/>
                    </a:ext>
                  </a:extLst>
                </a:hlinkClick>
              </a:rPr>
              <a:t>Trade Adjustment Assistance (TAA)</a:t>
            </a:r>
            <a:endParaRPr lang="en-US" sz="1400" b="1" u="sng" dirty="0">
              <a:solidFill>
                <a:srgbClr val="C00000"/>
              </a:solidFill>
            </a:endParaRPr>
          </a:p>
          <a:p>
            <a:endParaRPr lang="en-US" sz="1400" b="1" dirty="0">
              <a:solidFill>
                <a:srgbClr val="C00000"/>
              </a:solidFill>
            </a:endParaRPr>
          </a:p>
          <a:p>
            <a:r>
              <a:rPr lang="en-US" sz="1400" b="1" u="sng" dirty="0">
                <a:solidFill>
                  <a:srgbClr val="C00000"/>
                </a:solidFill>
                <a:hlinkClick r:id="rId11" tooltip="Disability Services">
                  <a:extLst>
                    <a:ext uri="{A12FA001-AC4F-418D-AE19-62706E023703}">
                      <ahyp:hlinkClr xmlns:ahyp="http://schemas.microsoft.com/office/drawing/2018/hyperlinkcolor" val="tx"/>
                    </a:ext>
                  </a:extLst>
                </a:hlinkClick>
              </a:rPr>
              <a:t>Disability Services</a:t>
            </a:r>
            <a:endParaRPr lang="en-US" sz="1400" b="1" dirty="0">
              <a:solidFill>
                <a:srgbClr val="C00000"/>
              </a:solidFill>
            </a:endParaRPr>
          </a:p>
        </p:txBody>
      </p:sp>
      <p:pic>
        <p:nvPicPr>
          <p:cNvPr id="6" name="Picture 5">
            <a:extLst>
              <a:ext uri="{FF2B5EF4-FFF2-40B4-BE49-F238E27FC236}">
                <a16:creationId xmlns:a16="http://schemas.microsoft.com/office/drawing/2014/main" id="{24DC00D1-28FA-A00D-FA0A-8F10FDCB9654}"/>
              </a:ext>
            </a:extLst>
          </p:cNvPr>
          <p:cNvPicPr>
            <a:picLocks noChangeAspect="1"/>
          </p:cNvPicPr>
          <p:nvPr/>
        </p:nvPicPr>
        <p:blipFill>
          <a:blip r:embed="rId12"/>
          <a:srcRect/>
          <a:stretch/>
        </p:blipFill>
        <p:spPr>
          <a:xfrm>
            <a:off x="5290895" y="588325"/>
            <a:ext cx="1853129" cy="656275"/>
          </a:xfrm>
          <a:prstGeom prst="rect">
            <a:avLst/>
          </a:prstGeom>
        </p:spPr>
      </p:pic>
    </p:spTree>
    <p:extLst>
      <p:ext uri="{BB962C8B-B14F-4D97-AF65-F5344CB8AC3E}">
        <p14:creationId xmlns:p14="http://schemas.microsoft.com/office/powerpoint/2010/main" val="4166177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769735-F4B0-AA24-F820-AB58C7D6CA29}"/>
              </a:ext>
            </a:extLst>
          </p:cNvPr>
          <p:cNvSpPr/>
          <p:nvPr/>
        </p:nvSpPr>
        <p:spPr>
          <a:xfrm>
            <a:off x="685800" y="7527206"/>
            <a:ext cx="6400800" cy="1901224"/>
          </a:xfrm>
          <a:prstGeom prst="rect">
            <a:avLst/>
          </a:prstGeom>
          <a:solidFill>
            <a:srgbClr val="CB00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C15B90A-E53D-7057-8F01-6E8AF43D94A9}"/>
              </a:ext>
            </a:extLst>
          </p:cNvPr>
          <p:cNvPicPr>
            <a:picLocks noChangeAspect="1"/>
          </p:cNvPicPr>
          <p:nvPr/>
        </p:nvPicPr>
        <p:blipFill rotWithShape="1">
          <a:blip r:embed="rId3"/>
          <a:srcRect l="32952" b="70622"/>
          <a:stretch/>
        </p:blipFill>
        <p:spPr>
          <a:xfrm>
            <a:off x="685800" y="677536"/>
            <a:ext cx="6400800" cy="765465"/>
          </a:xfrm>
          <a:prstGeom prst="rect">
            <a:avLst/>
          </a:prstGeom>
        </p:spPr>
      </p:pic>
      <p:sp>
        <p:nvSpPr>
          <p:cNvPr id="2" name="Title 1">
            <a:extLst>
              <a:ext uri="{FF2B5EF4-FFF2-40B4-BE49-F238E27FC236}">
                <a16:creationId xmlns:a16="http://schemas.microsoft.com/office/drawing/2014/main" id="{375D00E1-36E0-4E22-DB06-40DA39B20D62}"/>
              </a:ext>
            </a:extLst>
          </p:cNvPr>
          <p:cNvSpPr>
            <a:spLocks noGrp="1"/>
          </p:cNvSpPr>
          <p:nvPr>
            <p:ph type="ctrTitle"/>
          </p:nvPr>
        </p:nvSpPr>
        <p:spPr>
          <a:xfrm>
            <a:off x="582930" y="334455"/>
            <a:ext cx="4594712" cy="1306285"/>
          </a:xfrm>
        </p:spPr>
        <p:txBody>
          <a:bodyPr>
            <a:noAutofit/>
          </a:bodyPr>
          <a:lstStyle/>
          <a:p>
            <a:pPr algn="l">
              <a:lnSpc>
                <a:spcPct val="70000"/>
              </a:lnSpc>
            </a:pPr>
            <a:r>
              <a:rPr lang="en-US" sz="4000" b="1" dirty="0">
                <a:solidFill>
                  <a:schemeClr val="bg1"/>
                </a:solidFill>
                <a:latin typeface="Poppins SemiBold" pitchFamily="2" charset="77"/>
                <a:cs typeface="Poppins SemiBold" pitchFamily="2" charset="77"/>
              </a:rPr>
              <a:t>ADDITIONAL RESOURCES</a:t>
            </a:r>
          </a:p>
        </p:txBody>
      </p:sp>
      <p:sp>
        <p:nvSpPr>
          <p:cNvPr id="3" name="object 9">
            <a:extLst>
              <a:ext uri="{FF2B5EF4-FFF2-40B4-BE49-F238E27FC236}">
                <a16:creationId xmlns:a16="http://schemas.microsoft.com/office/drawing/2014/main" id="{09A0E1D7-2AD3-E43B-7115-419D81A225BE}"/>
              </a:ext>
            </a:extLst>
          </p:cNvPr>
          <p:cNvSpPr txBox="1"/>
          <p:nvPr/>
        </p:nvSpPr>
        <p:spPr>
          <a:xfrm>
            <a:off x="724927" y="1321595"/>
            <a:ext cx="2895600" cy="6897529"/>
          </a:xfrm>
          <a:prstGeom prst="rect">
            <a:avLst/>
          </a:prstGeom>
        </p:spPr>
        <p:txBody>
          <a:bodyPr vert="horz" wrap="square" lIns="0" tIns="147955" rIns="0" bIns="0" rtlCol="0">
            <a:spAutoFit/>
          </a:bodyPr>
          <a:lstStyle/>
          <a:p>
            <a:pPr marL="546100">
              <a:lnSpc>
                <a:spcPct val="100000"/>
              </a:lnSpc>
              <a:spcBef>
                <a:spcPts val="1165"/>
              </a:spcBef>
            </a:pPr>
            <a:r>
              <a:rPr lang="en-US" b="1" spc="-20" dirty="0">
                <a:solidFill>
                  <a:srgbClr val="D12931"/>
                </a:solidFill>
                <a:latin typeface="PermianSlabSerifTypeface"/>
                <a:cs typeface="PermianSlabSerifTypeface"/>
              </a:rPr>
              <a:t>Veteran </a:t>
            </a:r>
            <a:r>
              <a:rPr b="1" spc="-10" dirty="0">
                <a:solidFill>
                  <a:srgbClr val="D12931"/>
                </a:solidFill>
                <a:latin typeface="PermianSlabSerifTypeface"/>
                <a:cs typeface="PermianSlabSerifTypeface"/>
              </a:rPr>
              <a:t>Benefits</a:t>
            </a:r>
            <a:endParaRPr dirty="0">
              <a:latin typeface="PermianSlabSerifTypeface"/>
              <a:cs typeface="PermianSlabSerifTypeface"/>
            </a:endParaRPr>
          </a:p>
          <a:p>
            <a:pPr marL="12700" marR="5080">
              <a:lnSpc>
                <a:spcPct val="111500"/>
              </a:lnSpc>
              <a:spcBef>
                <a:spcPts val="630"/>
              </a:spcBef>
            </a:pPr>
            <a:r>
              <a:rPr lang="en-US" sz="1200" b="1" spc="-10" dirty="0">
                <a:solidFill>
                  <a:srgbClr val="C00000"/>
                </a:solidFill>
                <a:latin typeface="Open Sans"/>
                <a:cs typeface="Open Sans"/>
                <a:hlinkClick r:id="rId4">
                  <a:extLst>
                    <a:ext uri="{A12FA001-AC4F-418D-AE19-62706E023703}">
                      <ahyp:hlinkClr xmlns:ahyp="http://schemas.microsoft.com/office/drawing/2018/hyperlinkcolor" val="tx"/>
                    </a:ext>
                  </a:extLst>
                </a:hlinkClick>
              </a:rPr>
              <a:t>American Job Center (AJC) </a:t>
            </a:r>
            <a:r>
              <a:rPr lang="en-US" sz="1200" b="1" spc="-10" dirty="0">
                <a:solidFill>
                  <a:srgbClr val="C00000"/>
                </a:solidFill>
                <a:latin typeface="Open Sans"/>
                <a:cs typeface="Open Sans"/>
              </a:rPr>
              <a:t>-</a:t>
            </a:r>
            <a:r>
              <a:rPr lang="en-US" sz="1200" b="1" spc="-10" dirty="0">
                <a:solidFill>
                  <a:srgbClr val="002D74"/>
                </a:solidFill>
                <a:latin typeface="Open Sans"/>
                <a:cs typeface="Open Sans"/>
              </a:rPr>
              <a:t> </a:t>
            </a:r>
            <a:r>
              <a:rPr lang="en-US" sz="1200" spc="-10" dirty="0">
                <a:latin typeface="Open Sans"/>
                <a:cs typeface="Open Sans"/>
              </a:rPr>
              <a:t>A</a:t>
            </a:r>
            <a:r>
              <a:rPr lang="en-US" sz="1200" i="0" dirty="0">
                <a:solidFill>
                  <a:srgbClr val="131E29"/>
                </a:solidFill>
                <a:effectLst/>
                <a:latin typeface="Open Sans" panose="020B0606030504020204" pitchFamily="34" charset="0"/>
              </a:rPr>
              <a:t>ssists</a:t>
            </a:r>
            <a:r>
              <a:rPr lang="en-US" sz="1200" b="0" i="0" dirty="0">
                <a:solidFill>
                  <a:srgbClr val="131E29"/>
                </a:solidFill>
                <a:effectLst/>
                <a:latin typeface="Open Sans" panose="020B0606030504020204" pitchFamily="34" charset="0"/>
              </a:rPr>
              <a:t> job seekers with updating skills, education, credentials, workshops, computer resource center, career counseling, job search assistance, career coaching, and so much more!  In addition to these services, the AJC offers access to programs in assisting job seekers reach their full potential and eventually become self-reliant. </a:t>
            </a:r>
            <a:endParaRPr lang="en-US" sz="1200" b="1" spc="-10" dirty="0">
              <a:solidFill>
                <a:srgbClr val="0563C1"/>
              </a:solidFill>
              <a:latin typeface="Open Sans"/>
              <a:cs typeface="Open Sans"/>
              <a:hlinkClick r:id="rId5">
                <a:extLst>
                  <a:ext uri="{A12FA001-AC4F-418D-AE19-62706E023703}">
                    <ahyp:hlinkClr xmlns:ahyp="http://schemas.microsoft.com/office/drawing/2018/hyperlinkcolor" val="tx"/>
                  </a:ext>
                </a:extLst>
              </a:hlinkClick>
            </a:endParaRPr>
          </a:p>
          <a:p>
            <a:pPr marL="12700" marR="5080">
              <a:lnSpc>
                <a:spcPct val="111500"/>
              </a:lnSpc>
              <a:spcBef>
                <a:spcPts val="630"/>
              </a:spcBef>
            </a:pPr>
            <a:r>
              <a:rPr lang="en-US" sz="1200" b="1" spc="-10" dirty="0">
                <a:solidFill>
                  <a:srgbClr val="C00000"/>
                </a:solidFill>
                <a:latin typeface="Open Sans"/>
                <a:cs typeface="Open Sans"/>
                <a:hlinkClick r:id="rId5">
                  <a:extLst>
                    <a:ext uri="{A12FA001-AC4F-418D-AE19-62706E023703}">
                      <ahyp:hlinkClr xmlns:ahyp="http://schemas.microsoft.com/office/drawing/2018/hyperlinkcolor" val="tx"/>
                    </a:ext>
                  </a:extLst>
                </a:hlinkClick>
              </a:rPr>
              <a:t>Hire Our Heroes </a:t>
            </a:r>
            <a:r>
              <a:rPr sz="1200" spc="-10" dirty="0">
                <a:latin typeface="Open Sans"/>
                <a:cs typeface="Open Sans"/>
              </a:rPr>
              <a:t>—</a:t>
            </a:r>
            <a:r>
              <a:rPr lang="en-US" sz="1200" spc="-10" dirty="0">
                <a:solidFill>
                  <a:srgbClr val="C00000"/>
                </a:solidFill>
                <a:latin typeface="Open Sans"/>
                <a:cs typeface="Open Sans"/>
              </a:rPr>
              <a:t> </a:t>
            </a:r>
            <a:r>
              <a:rPr lang="en-US" sz="1200" b="0" i="0" dirty="0">
                <a:solidFill>
                  <a:srgbClr val="3D3E40"/>
                </a:solidFill>
                <a:effectLst/>
                <a:latin typeface="Open Sans" panose="020B0606030504020204" pitchFamily="34" charset="0"/>
              </a:rPr>
              <a:t>This employment resource assists veterans, military spouses, and transitioning service members with job opportunities. </a:t>
            </a:r>
          </a:p>
          <a:p>
            <a:pPr marL="12700" marR="5080">
              <a:lnSpc>
                <a:spcPct val="111500"/>
              </a:lnSpc>
              <a:spcBef>
                <a:spcPts val="630"/>
              </a:spcBef>
            </a:pPr>
            <a:r>
              <a:rPr lang="en-US" sz="1200" b="1" spc="-10" dirty="0">
                <a:solidFill>
                  <a:srgbClr val="C00000"/>
                </a:solidFill>
                <a:latin typeface="Open Sans"/>
                <a:cs typeface="Open Sans"/>
                <a:hlinkClick r:id="rId6">
                  <a:extLst>
                    <a:ext uri="{A12FA001-AC4F-418D-AE19-62706E023703}">
                      <ahyp:hlinkClr xmlns:ahyp="http://schemas.microsoft.com/office/drawing/2018/hyperlinkcolor" val="tx"/>
                    </a:ext>
                  </a:extLst>
                </a:hlinkClick>
              </a:rPr>
              <a:t>Military OneSource </a:t>
            </a:r>
            <a:r>
              <a:rPr lang="en-US" sz="1200" spc="-10" dirty="0">
                <a:latin typeface="Open Sans"/>
                <a:cs typeface="Open Sans"/>
              </a:rPr>
              <a:t>—</a:t>
            </a:r>
            <a:r>
              <a:rPr lang="en-US" sz="1200" b="0" i="0" dirty="0">
                <a:solidFill>
                  <a:srgbClr val="131E29"/>
                </a:solidFill>
                <a:effectLst/>
                <a:latin typeface="Open Sans" panose="020B0606030504020204" pitchFamily="34" charset="0"/>
              </a:rPr>
              <a:t>Military OneSource serves active-duty service members, National Guard, and Reserves, recently separated service members, military families, and survivors. </a:t>
            </a:r>
            <a:endParaRPr lang="en-US" sz="1200" dirty="0">
              <a:solidFill>
                <a:srgbClr val="131E29"/>
              </a:solidFill>
              <a:latin typeface="Open Sans" panose="020B0606030504020204" pitchFamily="34" charset="0"/>
            </a:endParaRPr>
          </a:p>
          <a:p>
            <a:pPr marL="12700" marR="5080">
              <a:lnSpc>
                <a:spcPct val="111500"/>
              </a:lnSpc>
              <a:spcBef>
                <a:spcPts val="630"/>
              </a:spcBef>
            </a:pPr>
            <a:r>
              <a:rPr lang="en-US" sz="1200" b="1" dirty="0">
                <a:solidFill>
                  <a:srgbClr val="C00000"/>
                </a:solidFill>
                <a:latin typeface="Open Sans"/>
                <a:cs typeface="Open Sans"/>
                <a:hlinkClick r:id="rId7">
                  <a:extLst>
                    <a:ext uri="{A12FA001-AC4F-418D-AE19-62706E023703}">
                      <ahyp:hlinkClr xmlns:ahyp="http://schemas.microsoft.com/office/drawing/2018/hyperlinkcolor" val="tx"/>
                    </a:ext>
                  </a:extLst>
                </a:hlinkClick>
              </a:rPr>
              <a:t>Veteran Readiness and Employment (VR&amp;E) Service </a:t>
            </a:r>
            <a:r>
              <a:rPr sz="1200" spc="-10" dirty="0">
                <a:latin typeface="Open Sans"/>
                <a:cs typeface="Open Sans"/>
              </a:rPr>
              <a:t>—</a:t>
            </a:r>
            <a:r>
              <a:rPr lang="en-US" sz="1200" spc="-10" dirty="0">
                <a:latin typeface="Open Sans"/>
                <a:cs typeface="Open Sans"/>
              </a:rPr>
              <a:t> P</a:t>
            </a:r>
            <a:r>
              <a:rPr lang="en-US" sz="1200" b="0" i="0" dirty="0">
                <a:solidFill>
                  <a:srgbClr val="2E2E2E"/>
                </a:solidFill>
                <a:effectLst/>
                <a:latin typeface="Arial" panose="020B0604020202020204" pitchFamily="34" charset="0"/>
              </a:rPr>
              <a:t>rovides services to help with job training, education, employment accommodations, resume development, and job seeking skills coaching.</a:t>
            </a:r>
          </a:p>
          <a:p>
            <a:pPr marL="12700" marR="5080">
              <a:lnSpc>
                <a:spcPct val="111500"/>
              </a:lnSpc>
              <a:spcBef>
                <a:spcPts val="630"/>
              </a:spcBef>
            </a:pPr>
            <a:r>
              <a:rPr lang="en-US" sz="1200" spc="-10" dirty="0">
                <a:latin typeface="Open Sans"/>
                <a:cs typeface="Open Sans"/>
              </a:rPr>
              <a:t> </a:t>
            </a:r>
          </a:p>
          <a:p>
            <a:pPr marL="12700" marR="5080">
              <a:lnSpc>
                <a:spcPct val="111500"/>
              </a:lnSpc>
              <a:spcBef>
                <a:spcPts val="630"/>
              </a:spcBef>
            </a:pPr>
            <a:endParaRPr lang="en-US" sz="1000" b="1" spc="-25" dirty="0">
              <a:highlight>
                <a:srgbClr val="FFFF00"/>
              </a:highlight>
              <a:latin typeface="Open Sans"/>
              <a:cs typeface="Open Sans"/>
            </a:endParaRPr>
          </a:p>
          <a:p>
            <a:pPr marL="12700" marR="41910" indent="-635">
              <a:lnSpc>
                <a:spcPct val="111700"/>
              </a:lnSpc>
              <a:spcBef>
                <a:spcPts val="685"/>
              </a:spcBef>
            </a:pPr>
            <a:endParaRPr sz="1000" dirty="0">
              <a:latin typeface="Open Sans"/>
              <a:cs typeface="Open Sans"/>
            </a:endParaRPr>
          </a:p>
        </p:txBody>
      </p:sp>
      <p:sp>
        <p:nvSpPr>
          <p:cNvPr id="6" name="object 9">
            <a:extLst>
              <a:ext uri="{FF2B5EF4-FFF2-40B4-BE49-F238E27FC236}">
                <a16:creationId xmlns:a16="http://schemas.microsoft.com/office/drawing/2014/main" id="{66E7D1E2-4B68-AEFB-2C60-9A94F7D0FBCE}"/>
              </a:ext>
            </a:extLst>
          </p:cNvPr>
          <p:cNvSpPr txBox="1"/>
          <p:nvPr/>
        </p:nvSpPr>
        <p:spPr>
          <a:xfrm>
            <a:off x="3714726" y="1323473"/>
            <a:ext cx="3248173" cy="6784358"/>
          </a:xfrm>
          <a:prstGeom prst="rect">
            <a:avLst/>
          </a:prstGeom>
        </p:spPr>
        <p:txBody>
          <a:bodyPr vert="horz" wrap="square" lIns="0" tIns="147955" rIns="0" bIns="0" rtlCol="0">
            <a:spAutoFit/>
          </a:bodyPr>
          <a:lstStyle/>
          <a:p>
            <a:pPr marL="546100">
              <a:lnSpc>
                <a:spcPct val="100000"/>
              </a:lnSpc>
              <a:spcBef>
                <a:spcPts val="1165"/>
              </a:spcBef>
            </a:pPr>
            <a:r>
              <a:rPr lang="en-US" b="1" spc="-10" dirty="0">
                <a:solidFill>
                  <a:srgbClr val="D12931"/>
                </a:solidFill>
                <a:latin typeface="PermianSlabSerifTypeface"/>
                <a:cs typeface="PermianSlabSerifTypeface"/>
              </a:rPr>
              <a:t>Other Resources</a:t>
            </a:r>
            <a:endParaRPr dirty="0">
              <a:latin typeface="PermianSlabSerifTypeface"/>
              <a:cs typeface="PermianSlabSerifTypeface"/>
            </a:endParaRPr>
          </a:p>
          <a:p>
            <a:pPr marL="12700" marR="5080">
              <a:lnSpc>
                <a:spcPct val="111500"/>
              </a:lnSpc>
              <a:spcBef>
                <a:spcPts val="630"/>
              </a:spcBef>
            </a:pPr>
            <a:r>
              <a:rPr lang="en-US" sz="1200" b="1" spc="-10" dirty="0">
                <a:solidFill>
                  <a:srgbClr val="C00000"/>
                </a:solidFill>
                <a:latin typeface="Open Sans"/>
                <a:cs typeface="Open Sans"/>
                <a:hlinkClick r:id="rId8">
                  <a:extLst>
                    <a:ext uri="{A12FA001-AC4F-418D-AE19-62706E023703}">
                      <ahyp:hlinkClr xmlns:ahyp="http://schemas.microsoft.com/office/drawing/2018/hyperlinkcolor" val="tx"/>
                    </a:ext>
                  </a:extLst>
                </a:hlinkClick>
              </a:rPr>
              <a:t>Vet C</a:t>
            </a:r>
            <a:r>
              <a:rPr sz="1200" b="1" spc="-10" dirty="0">
                <a:solidFill>
                  <a:srgbClr val="C00000"/>
                </a:solidFill>
                <a:latin typeface="Open Sans"/>
                <a:cs typeface="Open Sans"/>
                <a:hlinkClick r:id="rId8">
                  <a:extLst>
                    <a:ext uri="{A12FA001-AC4F-418D-AE19-62706E023703}">
                      <ahyp:hlinkClr xmlns:ahyp="http://schemas.microsoft.com/office/drawing/2018/hyperlinkcolor" val="tx"/>
                    </a:ext>
                  </a:extLst>
                </a:hlinkClick>
              </a:rPr>
              <a:t>e</a:t>
            </a:r>
            <a:r>
              <a:rPr lang="en-US" sz="1200" b="1" spc="-10" dirty="0">
                <a:solidFill>
                  <a:srgbClr val="C00000"/>
                </a:solidFill>
                <a:latin typeface="Open Sans"/>
                <a:cs typeface="Open Sans"/>
                <a:hlinkClick r:id="rId8">
                  <a:extLst>
                    <a:ext uri="{A12FA001-AC4F-418D-AE19-62706E023703}">
                      <ahyp:hlinkClr xmlns:ahyp="http://schemas.microsoft.com/office/drawing/2018/hyperlinkcolor" val="tx"/>
                    </a:ext>
                  </a:extLst>
                </a:hlinkClick>
              </a:rPr>
              <a:t>nters</a:t>
            </a:r>
            <a:r>
              <a:rPr sz="1200" spc="-10" dirty="0">
                <a:latin typeface="Open Sans"/>
                <a:cs typeface="Open Sans"/>
              </a:rPr>
              <a:t>—</a:t>
            </a:r>
            <a:r>
              <a:rPr lang="en-US" sz="1200" dirty="0">
                <a:latin typeface="Open Sans"/>
                <a:cs typeface="Open Sans"/>
              </a:rPr>
              <a:t>community-based counseling centers that provide a wide range of social and psychological services, including professional counseling to eligible Veterans, service members, including National Guard and Reserve components, and their families.</a:t>
            </a:r>
          </a:p>
          <a:p>
            <a:pPr marL="12700" marR="5080">
              <a:lnSpc>
                <a:spcPct val="111500"/>
              </a:lnSpc>
              <a:spcBef>
                <a:spcPts val="630"/>
              </a:spcBef>
            </a:pPr>
            <a:r>
              <a:rPr sz="1200" b="1" dirty="0">
                <a:solidFill>
                  <a:srgbClr val="C00000"/>
                </a:solidFill>
                <a:latin typeface="Open Sans"/>
                <a:cs typeface="Open Sans"/>
                <a:hlinkClick r:id="rId9">
                  <a:extLst>
                    <a:ext uri="{A12FA001-AC4F-418D-AE19-62706E023703}">
                      <ahyp:hlinkClr xmlns:ahyp="http://schemas.microsoft.com/office/drawing/2018/hyperlinkcolor" val="tx"/>
                    </a:ext>
                  </a:extLst>
                </a:hlinkClick>
              </a:rPr>
              <a:t>V</a:t>
            </a:r>
            <a:r>
              <a:rPr lang="en-US" sz="1200" b="1" dirty="0">
                <a:solidFill>
                  <a:srgbClr val="C00000"/>
                </a:solidFill>
                <a:latin typeface="Open Sans"/>
                <a:cs typeface="Open Sans"/>
                <a:hlinkClick r:id="rId9">
                  <a:extLst>
                    <a:ext uri="{A12FA001-AC4F-418D-AE19-62706E023703}">
                      <ahyp:hlinkClr xmlns:ahyp="http://schemas.microsoft.com/office/drawing/2018/hyperlinkcolor" val="tx"/>
                    </a:ext>
                  </a:extLst>
                </a:hlinkClick>
              </a:rPr>
              <a:t>eteran Apprenticeship</a:t>
            </a:r>
            <a:r>
              <a:rPr sz="1200" spc="-10" dirty="0">
                <a:latin typeface="Open Sans"/>
                <a:cs typeface="Open Sans"/>
              </a:rPr>
              <a:t>—</a:t>
            </a:r>
            <a:r>
              <a:rPr lang="en-US" sz="1200" dirty="0">
                <a:latin typeface="Open Sans"/>
                <a:cs typeface="Open Sans"/>
              </a:rPr>
              <a:t>For members of the military or veterans, apprenticeship is a unique and rewarding pathway to developing in-demand workplace and technical skills while earning a paycheck in the career of your dreams from day one.</a:t>
            </a:r>
          </a:p>
          <a:p>
            <a:pPr marL="12700" marR="5080">
              <a:lnSpc>
                <a:spcPct val="111500"/>
              </a:lnSpc>
              <a:spcBef>
                <a:spcPts val="630"/>
              </a:spcBef>
            </a:pPr>
            <a:r>
              <a:rPr lang="en-US" sz="1200" b="1" dirty="0">
                <a:solidFill>
                  <a:srgbClr val="C00000"/>
                </a:solidFill>
                <a:latin typeface="Open Sans"/>
                <a:cs typeface="Open Sans"/>
                <a:hlinkClick r:id="rId10">
                  <a:extLst>
                    <a:ext uri="{A12FA001-AC4F-418D-AE19-62706E023703}">
                      <ahyp:hlinkClr xmlns:ahyp="http://schemas.microsoft.com/office/drawing/2018/hyperlinkcolor" val="tx"/>
                    </a:ext>
                  </a:extLst>
                </a:hlinkClick>
              </a:rPr>
              <a:t>Boots to Business</a:t>
            </a:r>
            <a:r>
              <a:rPr sz="1200" spc="-10" dirty="0">
                <a:latin typeface="Open Sans"/>
                <a:cs typeface="Open Sans"/>
              </a:rPr>
              <a:t>—</a:t>
            </a:r>
            <a:r>
              <a:rPr lang="en-US" sz="1200" spc="-10" dirty="0">
                <a:latin typeface="Open Sans"/>
                <a:cs typeface="Open Sans"/>
              </a:rPr>
              <a:t>A</a:t>
            </a:r>
            <a:r>
              <a:rPr lang="en-US" sz="1200" dirty="0">
                <a:latin typeface="Open Sans"/>
                <a:cs typeface="Open Sans"/>
              </a:rPr>
              <a:t>n entrepreneurial education and training program offered by the U.S. Small Business Administration (SBA) as part of the Department of Defense Transition Assistance Program (TAP). The course provides an overview of entrepreneurship and applicable business ownership fundamentals. Active-Duty Service members (including National Guard and Reserve), Veterans of all eras, and spouses are eligible to participate.</a:t>
            </a:r>
            <a:endParaRPr lang="en-US" sz="1200" spc="-25" dirty="0">
              <a:latin typeface="Open Sans"/>
              <a:cs typeface="Open Sans"/>
            </a:endParaRPr>
          </a:p>
          <a:p>
            <a:pPr marL="12700" marR="41910" indent="-635">
              <a:lnSpc>
                <a:spcPct val="111700"/>
              </a:lnSpc>
              <a:spcBef>
                <a:spcPts val="685"/>
              </a:spcBef>
            </a:pPr>
            <a:endParaRPr lang="en-US" sz="1400" spc="-25" dirty="0">
              <a:latin typeface="Open Sans"/>
              <a:cs typeface="Open Sans"/>
            </a:endParaRPr>
          </a:p>
          <a:p>
            <a:pPr marL="12700" marR="41910" indent="-635">
              <a:lnSpc>
                <a:spcPct val="111700"/>
              </a:lnSpc>
              <a:spcBef>
                <a:spcPts val="685"/>
              </a:spcBef>
            </a:pPr>
            <a:endParaRPr lang="en-US" sz="1000" spc="-25" dirty="0">
              <a:latin typeface="Open Sans"/>
              <a:cs typeface="Open Sans"/>
            </a:endParaRPr>
          </a:p>
          <a:p>
            <a:pPr marL="12700" marR="41910" indent="-635">
              <a:lnSpc>
                <a:spcPct val="111700"/>
              </a:lnSpc>
              <a:spcBef>
                <a:spcPts val="685"/>
              </a:spcBef>
            </a:pPr>
            <a:endParaRPr lang="en-US" sz="1000" spc="-25" dirty="0">
              <a:latin typeface="Open Sans"/>
              <a:cs typeface="Open Sans"/>
            </a:endParaRPr>
          </a:p>
          <a:p>
            <a:pPr marL="12700" marR="41910" indent="-635">
              <a:lnSpc>
                <a:spcPct val="111700"/>
              </a:lnSpc>
              <a:spcBef>
                <a:spcPts val="685"/>
              </a:spcBef>
            </a:pPr>
            <a:endParaRPr lang="en-US" sz="1000" spc="-25" dirty="0">
              <a:latin typeface="Open Sans"/>
              <a:cs typeface="Open Sans"/>
            </a:endParaRPr>
          </a:p>
          <a:p>
            <a:pPr marL="12700" marR="41910" indent="-635">
              <a:lnSpc>
                <a:spcPct val="111700"/>
              </a:lnSpc>
              <a:spcBef>
                <a:spcPts val="685"/>
              </a:spcBef>
            </a:pPr>
            <a:endParaRPr sz="1000" dirty="0">
              <a:latin typeface="Open Sans"/>
              <a:cs typeface="Open Sans"/>
            </a:endParaRPr>
          </a:p>
        </p:txBody>
      </p:sp>
      <p:sp>
        <p:nvSpPr>
          <p:cNvPr id="11" name="Rectangle 10">
            <a:extLst>
              <a:ext uri="{FF2B5EF4-FFF2-40B4-BE49-F238E27FC236}">
                <a16:creationId xmlns:a16="http://schemas.microsoft.com/office/drawing/2014/main" id="{9484B84B-C0E8-CC06-C3AE-6DA80A208BAE}"/>
              </a:ext>
            </a:extLst>
          </p:cNvPr>
          <p:cNvSpPr/>
          <p:nvPr/>
        </p:nvSpPr>
        <p:spPr>
          <a:xfrm>
            <a:off x="3777189" y="7527206"/>
            <a:ext cx="3304902" cy="19012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274320" rIns="182880" bIns="91440" rtlCol="0" anchor="t" anchorCtr="0"/>
          <a:lstStyle/>
          <a:p>
            <a:pPr algn="ctr"/>
            <a:r>
              <a:rPr lang="en-US" sz="1200" dirty="0">
                <a:solidFill>
                  <a:schemeClr val="bg1"/>
                </a:solidFill>
                <a:latin typeface="Poppins Medium" pitchFamily="2" charset="77"/>
                <a:cs typeface="Poppins Medium" pitchFamily="2" charset="77"/>
              </a:rPr>
              <a:t>To Get Started With                   Employment Assistance                    Contact the local                                American Job Center </a:t>
            </a:r>
          </a:p>
          <a:p>
            <a:pPr algn="ctr">
              <a:spcBef>
                <a:spcPts val="600"/>
              </a:spcBef>
            </a:pPr>
            <a:r>
              <a:rPr lang="en-US" sz="1200" b="1" dirty="0">
                <a:solidFill>
                  <a:schemeClr val="bg1"/>
                </a:solidFill>
                <a:latin typeface="Poppins" pitchFamily="2" charset="77"/>
                <a:cs typeface="Poppins" pitchFamily="2" charset="77"/>
              </a:rPr>
              <a:t>jvsg@tn.gov</a:t>
            </a:r>
          </a:p>
          <a:p>
            <a:pPr algn="ctr">
              <a:spcBef>
                <a:spcPts val="600"/>
              </a:spcBef>
            </a:pPr>
            <a:r>
              <a:rPr lang="en-US" sz="1000" i="1" dirty="0">
                <a:solidFill>
                  <a:schemeClr val="bg1"/>
                </a:solidFill>
                <a:latin typeface="Poppins Medium" pitchFamily="2" charset="77"/>
                <a:cs typeface="Poppins Medium" pitchFamily="2" charset="77"/>
              </a:rPr>
              <a:t>State Director Veteran Services,</a:t>
            </a:r>
            <a:br>
              <a:rPr lang="en-US" sz="1000" i="1" dirty="0">
                <a:solidFill>
                  <a:schemeClr val="bg1"/>
                </a:solidFill>
                <a:latin typeface="Poppins Medium" pitchFamily="2" charset="77"/>
                <a:cs typeface="Poppins Medium" pitchFamily="2" charset="77"/>
              </a:rPr>
            </a:br>
            <a:r>
              <a:rPr lang="en-US" sz="1000" i="1" dirty="0">
                <a:solidFill>
                  <a:schemeClr val="bg1"/>
                </a:solidFill>
                <a:latin typeface="Poppins Medium" pitchFamily="2" charset="77"/>
                <a:cs typeface="Poppins Medium" pitchFamily="2" charset="77"/>
              </a:rPr>
              <a:t>TN Department of Labor &amp; Workforce Services</a:t>
            </a:r>
          </a:p>
          <a:p>
            <a:pPr algn="ctr">
              <a:spcBef>
                <a:spcPts val="600"/>
              </a:spcBef>
            </a:pPr>
            <a:endParaRPr lang="en-US" sz="1200" dirty="0">
              <a:solidFill>
                <a:schemeClr val="bg1"/>
              </a:solidFill>
              <a:latin typeface="Poppins" pitchFamily="2" charset="77"/>
              <a:cs typeface="Poppins" pitchFamily="2" charset="77"/>
            </a:endParaRPr>
          </a:p>
        </p:txBody>
      </p:sp>
      <p:pic>
        <p:nvPicPr>
          <p:cNvPr id="13" name="Picture 12" descr="A close-up of a sign&#10;&#10;Description automatically generated">
            <a:extLst>
              <a:ext uri="{FF2B5EF4-FFF2-40B4-BE49-F238E27FC236}">
                <a16:creationId xmlns:a16="http://schemas.microsoft.com/office/drawing/2014/main" id="{A1BAE95F-58C6-CCC8-9C15-5843D58DDAF5}"/>
              </a:ext>
            </a:extLst>
          </p:cNvPr>
          <p:cNvPicPr>
            <a:picLocks noChangeAspect="1"/>
          </p:cNvPicPr>
          <p:nvPr/>
        </p:nvPicPr>
        <p:blipFill>
          <a:blip r:embed="rId11"/>
          <a:stretch>
            <a:fillRect/>
          </a:stretch>
        </p:blipFill>
        <p:spPr>
          <a:xfrm>
            <a:off x="1229093" y="7696454"/>
            <a:ext cx="2053754" cy="628849"/>
          </a:xfrm>
          <a:prstGeom prst="rect">
            <a:avLst/>
          </a:prstGeom>
        </p:spPr>
      </p:pic>
      <p:sp>
        <p:nvSpPr>
          <p:cNvPr id="14" name="Rectangle 13">
            <a:extLst>
              <a:ext uri="{FF2B5EF4-FFF2-40B4-BE49-F238E27FC236}">
                <a16:creationId xmlns:a16="http://schemas.microsoft.com/office/drawing/2014/main" id="{4C016D5B-E3F7-3A8C-C36A-27ADC65C97D6}"/>
              </a:ext>
            </a:extLst>
          </p:cNvPr>
          <p:cNvSpPr/>
          <p:nvPr/>
        </p:nvSpPr>
        <p:spPr>
          <a:xfrm>
            <a:off x="805900" y="8477818"/>
            <a:ext cx="3505199" cy="8501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spcBef>
                <a:spcPts val="600"/>
              </a:spcBef>
            </a:pPr>
            <a:r>
              <a:rPr lang="en-US" sz="1200" i="1" dirty="0">
                <a:solidFill>
                  <a:schemeClr val="bg1"/>
                </a:solidFill>
                <a:latin typeface="Poppins" pitchFamily="2" charset="77"/>
                <a:cs typeface="Poppins" pitchFamily="2" charset="77"/>
              </a:rPr>
              <a:t>Website: </a:t>
            </a:r>
          </a:p>
          <a:p>
            <a:pPr>
              <a:spcBef>
                <a:spcPts val="600"/>
              </a:spcBef>
            </a:pPr>
            <a:r>
              <a:rPr lang="en-US" sz="1200" i="1" dirty="0">
                <a:solidFill>
                  <a:schemeClr val="bg1"/>
                </a:solidFill>
                <a:latin typeface="Poppins" pitchFamily="2" charset="77"/>
                <a:cs typeface="Poppins" pitchFamily="2" charset="77"/>
                <a:hlinkClick r:id="rId12">
                  <a:extLst>
                    <a:ext uri="{A12FA001-AC4F-418D-AE19-62706E023703}">
                      <ahyp:hlinkClr xmlns:ahyp="http://schemas.microsoft.com/office/drawing/2018/hyperlinkcolor" val="tx"/>
                    </a:ext>
                  </a:extLst>
                </a:hlinkClick>
              </a:rPr>
              <a:t>TN.gov: Tennessee State Government</a:t>
            </a:r>
            <a:endParaRPr lang="en-US" sz="1200" i="1" dirty="0">
              <a:solidFill>
                <a:schemeClr val="bg1"/>
              </a:solidFill>
              <a:latin typeface="Poppins" pitchFamily="2" charset="77"/>
              <a:cs typeface="Poppins" pitchFamily="2" charset="77"/>
            </a:endParaRPr>
          </a:p>
          <a:p>
            <a:pPr>
              <a:spcBef>
                <a:spcPts val="600"/>
              </a:spcBef>
            </a:pPr>
            <a:r>
              <a:rPr lang="en-US" sz="1200" i="1" dirty="0">
                <a:solidFill>
                  <a:schemeClr val="bg1"/>
                </a:solidFill>
                <a:latin typeface="Poppins" pitchFamily="2" charset="77"/>
                <a:cs typeface="Poppins" pitchFamily="2" charset="77"/>
                <a:hlinkClick r:id="rId13">
                  <a:extLst>
                    <a:ext uri="{A12FA001-AC4F-418D-AE19-62706E023703}">
                      <ahyp:hlinkClr xmlns:ahyp="http://schemas.microsoft.com/office/drawing/2018/hyperlinkcolor" val="tx"/>
                    </a:ext>
                  </a:extLst>
                </a:hlinkClick>
              </a:rPr>
              <a:t>Jobs for Veterans State Grant Program</a:t>
            </a:r>
            <a:endParaRPr lang="en-US" sz="1200" i="1" dirty="0">
              <a:solidFill>
                <a:schemeClr val="bg1"/>
              </a:solidFill>
              <a:latin typeface="Poppins" pitchFamily="2" charset="77"/>
              <a:cs typeface="Poppins" pitchFamily="2" charset="77"/>
            </a:endParaRPr>
          </a:p>
        </p:txBody>
      </p:sp>
      <p:sp>
        <p:nvSpPr>
          <p:cNvPr id="16" name="object 13">
            <a:extLst>
              <a:ext uri="{FF2B5EF4-FFF2-40B4-BE49-F238E27FC236}">
                <a16:creationId xmlns:a16="http://schemas.microsoft.com/office/drawing/2014/main" id="{03F4A1C8-FD59-17CD-CD7A-74214BF776D2}"/>
              </a:ext>
            </a:extLst>
          </p:cNvPr>
          <p:cNvSpPr txBox="1"/>
          <p:nvPr/>
        </p:nvSpPr>
        <p:spPr>
          <a:xfrm>
            <a:off x="4978612" y="9453041"/>
            <a:ext cx="2793788" cy="605359"/>
          </a:xfrm>
          <a:prstGeom prst="rect">
            <a:avLst/>
          </a:prstGeom>
          <a:ln w="12700">
            <a:solidFill>
              <a:srgbClr val="76777A"/>
            </a:solidFill>
          </a:ln>
        </p:spPr>
        <p:txBody>
          <a:bodyPr vert="horz" wrap="square" lIns="0" tIns="19685" rIns="0" bIns="0" rtlCol="0">
            <a:spAutoFit/>
          </a:bodyPr>
          <a:lstStyle/>
          <a:p>
            <a:pPr>
              <a:lnSpc>
                <a:spcPct val="100000"/>
              </a:lnSpc>
              <a:spcBef>
                <a:spcPts val="155"/>
              </a:spcBef>
            </a:pPr>
            <a:endParaRPr sz="800" dirty="0">
              <a:latin typeface="Times New Roman"/>
              <a:cs typeface="Times New Roman"/>
            </a:endParaRPr>
          </a:p>
          <a:p>
            <a:pPr marL="476250" marR="181610">
              <a:lnSpc>
                <a:spcPts val="900"/>
              </a:lnSpc>
            </a:pPr>
            <a:r>
              <a:rPr lang="en-US" sz="900" i="1" dirty="0"/>
              <a:t>Tennessee’s Jobs for Veterans State Grant program is 100 percent funded by the U.S. Department of Labor through awards totaling $3,711,000. </a:t>
            </a:r>
            <a:endParaRPr sz="900" dirty="0">
              <a:latin typeface="Arial"/>
              <a:cs typeface="Arial"/>
            </a:endParaRPr>
          </a:p>
        </p:txBody>
      </p:sp>
    </p:spTree>
    <p:extLst>
      <p:ext uri="{BB962C8B-B14F-4D97-AF65-F5344CB8AC3E}">
        <p14:creationId xmlns:p14="http://schemas.microsoft.com/office/powerpoint/2010/main" val="9510096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345bebf-0d71-4337-9281-24b941616c36}" enabled="0" method="" siteId="{f345bebf-0d71-4337-9281-24b941616c36}" removed="1"/>
</clbl:labelList>
</file>

<file path=docProps/app.xml><?xml version="1.0" encoding="utf-8"?>
<Properties xmlns="http://schemas.openxmlformats.org/officeDocument/2006/extended-properties" xmlns:vt="http://schemas.openxmlformats.org/officeDocument/2006/docPropsVTypes">
  <Template>Office 2013 - 2022 Theme</Template>
  <TotalTime>4826</TotalTime>
  <Words>497</Words>
  <Application>Microsoft Office PowerPoint</Application>
  <PresentationFormat>Custom</PresentationFormat>
  <Paragraphs>50</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LOOKING FOR THE RIGHT CAREER?</vt:lpstr>
      <vt:lpstr>ADDITIONAL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LOOKING FOR THE RIGHT TALENT?</dc:title>
  <dc:creator>Emilie Abrams</dc:creator>
  <cp:lastModifiedBy>Glenita White</cp:lastModifiedBy>
  <cp:revision>7</cp:revision>
  <cp:lastPrinted>2025-03-25T00:22:58Z</cp:lastPrinted>
  <dcterms:created xsi:type="dcterms:W3CDTF">2023-12-21T21:04:15Z</dcterms:created>
  <dcterms:modified xsi:type="dcterms:W3CDTF">2026-04-20T16:31:33Z</dcterms:modified>
</cp:coreProperties>
</file>